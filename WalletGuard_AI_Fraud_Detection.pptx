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</c:v>
                </c:pt>
              </c:strCache>
            </c:strRef>
          </c:tx>
          <c:spPr>
            <a:solidFill>
              <a:srgbClr val="CCFF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CFF3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BEE2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ADD1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9CC0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8BB0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77AA00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T</c:v>
                  </c:pt>
                  <c:pt idx="1">
                    <c:v>A</c:v>
                  </c:pt>
                  <c:pt idx="2">
                    <c:v>D</c:v>
                  </c:pt>
                  <c:pt idx="3">
                    <c:v>L</c:v>
                  </c:pt>
                  <c:pt idx="4">
                    <c:v>F</c:v>
                  </c:pt>
                  <c:pt idx="5">
                    <c:v>P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</c:v>
                </c:pt>
                <c:pt idx="1">
                  <c:v>20</c:v>
                </c:pt>
                <c:pt idx="2">
                  <c:v>20</c:v>
                </c:pt>
                <c:pt idx="3">
                  <c:v>15</c:v>
                </c:pt>
                <c:pt idx="4">
                  <c:v>12</c:v>
                </c:pt>
                <c:pt idx="5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AA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33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AA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A1A1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Wallet</a:t>
            </a:r>
            <a:pPr algn="ctr" indent="0" marL="0">
              <a:buNone/>
            </a:pPr>
            <a:r>
              <a:rPr lang="en-US" sz="6000" b="1" dirty="0">
                <a:solidFill>
                  <a:srgbClr val="CCFF33"/>
                </a:solidFill>
              </a:rPr>
              <a:t>Guard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914400" y="1691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AI-Powered Fraud Detection for Pakistan's Digital Economy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194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AAAA"/>
                </a:solidFill>
              </a:rPr>
              <a:t>Detect. Alert. Block. Protect.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5420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</a:rPr>
              <a:t>A Final Year Project Presentation for JazzCash &amp; Easypaisa Ecosystems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0" y="3017520"/>
            <a:ext cx="2011680" cy="457200"/>
          </a:xfrm>
          <a:prstGeom prst="roundRect">
            <a:avLst>
              <a:gd name="adj" fmla="val 60000"/>
            </a:avLst>
          </a:prstGeom>
          <a:solidFill>
            <a:srgbClr val="0A0A0A"/>
          </a:solidFill>
          <a:ln w="19050">
            <a:solidFill>
              <a:srgbClr val="CCFF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0" y="30175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AI &amp; CYBERSECURITY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846320" y="3017520"/>
            <a:ext cx="2011680" cy="457200"/>
          </a:xfrm>
          <a:prstGeom prst="roundRect">
            <a:avLst>
              <a:gd name="adj" fmla="val 60000"/>
            </a:avLst>
          </a:prstGeom>
          <a:solidFill>
            <a:srgbClr val="CCFF33"/>
          </a:solidFill>
          <a:ln w="12700">
            <a:solidFill>
              <a:srgbClr val="CCFF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30175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</a:rPr>
              <a:t>FINTECH PROTECT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solidFill>
            <a:srgbClr val="1A2035"/>
          </a:solidFill>
          <a:ln w="12700">
            <a:solidFill>
              <a:srgbClr val="1A20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4488"/>
                </a:solidFill>
              </a:rPr>
              <a:t>◈ ─── ◈ ─── ◈ ─── ◈ ─── ◈ ─── ◈ ─── ◈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0" y="4983480"/>
            <a:ext cx="9144000" cy="1828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Executive 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331720" y="3200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CFF33"/>
                </a:solidFill>
              </a:rPr>
              <a:t>Summary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CFF33"/>
                </a:solidFill>
              </a:rPr>
              <a:t>Mission Objective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WalletGuard is an intelligent AI middleware designed to integrate with platforms like JazzCash and Easypaisa. It shifts fraud prevention from reactive manual reporting to proactive real-time intervention.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423160"/>
            <a:ext cx="4754880" cy="18288"/>
          </a:xfrm>
          <a:prstGeom prst="rect">
            <a:avLst/>
          </a:prstGeom>
          <a:solidFill>
            <a:srgbClr val="CCFF33"/>
          </a:solidFill>
          <a:ln w="12700">
            <a:solidFill>
              <a:srgbClr val="CCFF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514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FF33"/>
                </a:solidFill>
              </a:rPr>
              <a:t>Primary Goals: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→  Reduce transaction loss by 94% using anomaly analytics.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→  Empower users with a 30-second intervention window.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→  Automate the audit trail for FIA Cyber Crime Wing integration.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0" y="822960"/>
            <a:ext cx="3017520" cy="347472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1188720"/>
            <a:ext cx="1737360" cy="1737360"/>
          </a:xfrm>
          <a:prstGeom prst="ellipse">
            <a:avLst/>
          </a:prstGeom>
          <a:solidFill>
            <a:srgbClr val="1A5C1A"/>
          </a:solidFill>
          <a:ln w="12700">
            <a:solidFill>
              <a:srgbClr val="1A5C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0" y="1280160"/>
            <a:ext cx="1554480" cy="1554480"/>
          </a:xfrm>
          <a:prstGeom prst="ellipse">
            <a:avLst/>
          </a:prstGeom>
          <a:solidFill>
            <a:srgbClr val="2A8C2A"/>
          </a:solidFill>
          <a:ln w="12700">
            <a:solidFill>
              <a:srgbClr val="2A8C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1325880"/>
            <a:ext cx="1737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🔒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5852160" y="31089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SECURE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0" y="4983480"/>
            <a:ext cx="9144000" cy="1828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The 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234440" y="3200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CFF33"/>
                </a:solidFill>
              </a:rPr>
              <a:t>Crisis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651760" y="3200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: Digital Fraud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14800" cy="256032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CCFF33"/>
                </a:solidFill>
              </a:rPr>
              <a:t>$9.3B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365760" y="2286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Annual Loss to Scams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69748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Approximately 2.5% of Pakistan's GDP is drained annually through sophisticated digital wallet fraud.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CFF33"/>
                </a:solidFill>
              </a:rPr>
              <a:t>Why Current Systems Fail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46320" y="146304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Lack of Real-time Profiling: </a:t>
            </a:r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Transactions are processed without checking against the user's historical behavioral "fingerprint."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233172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Manual Response: </a:t>
            </a:r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Users must report fraud after the money is lost, making recovery nearly impossible.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320040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Demographic Blindness: </a:t>
            </a:r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Vulnerable groups (age/gender profiles) are targeted by social engineers without specific risk adjustments.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4983480"/>
            <a:ext cx="9144000" cy="1828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Fintech 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103120" y="3200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CFF33"/>
                </a:solidFill>
              </a:rPr>
              <a:t>Landscape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480560" y="3200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: Pakistan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CFF33"/>
                </a:solidFill>
              </a:rPr>
              <a:t>The Digital Boom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Pakistan's branchless banking sector has seen explosive growth, making security a national economic priority.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FF33"/>
                </a:solidFill>
              </a:rPr>
              <a:t>→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80M+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Active digital wallet accounts in 2024.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587752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FF33"/>
                </a:solidFill>
              </a:rPr>
              <a:t>→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2.1B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Annual transactions by Easypaisa alone.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026664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FF33"/>
                </a:solidFill>
              </a:rPr>
              <a:t>→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Rs. 6.8T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Total transaction value processed in 2023.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465576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FF33"/>
                </a:solidFill>
              </a:rPr>
              <a:t>→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88%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of retail transactions are now digital (FY25).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0" y="822960"/>
            <a:ext cx="3749040" cy="3657600"/>
          </a:xfrm>
          <a:prstGeom prst="rect">
            <a:avLst/>
          </a:prstGeom>
          <a:solidFill>
            <a:srgbClr val="0D1117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822960"/>
            <a:ext cx="37490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🏙️</a:t>
            </a:r>
            <a:endParaRPr lang="en-US" sz="8000" dirty="0"/>
          </a:p>
        </p:txBody>
      </p:sp>
      <p:sp>
        <p:nvSpPr>
          <p:cNvPr id="13" name="Text 11"/>
          <p:cNvSpPr/>
          <p:nvPr/>
        </p:nvSpPr>
        <p:spPr>
          <a:xfrm>
            <a:off x="5029200" y="41148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Pakistan's Digital Economy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4983480"/>
            <a:ext cx="9144000" cy="1828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Major 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737360" y="3200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CFF33"/>
                </a:solidFill>
              </a:rPr>
              <a:t>Threats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0" y="3200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 We Detect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697480" cy="192024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5156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55448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FF33"/>
                </a:solidFill>
              </a:rPr>
              <a:t>OTP/Phishing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92024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Social engineers impersonate customer care to steal 4-digit codes.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005840"/>
            <a:ext cx="2697480" cy="192024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05156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291840" y="155448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FF33"/>
                </a:solidFill>
              </a:rPr>
              <a:t>SIM Swap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29000" y="192024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Intercepting OTPs by cloning a user's SIM via corrupt retailer channels.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005840"/>
            <a:ext cx="2697480" cy="192024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05156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🪪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217920" y="155448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FF33"/>
                </a:solidFill>
              </a:rPr>
              <a:t>Identity Theft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55080" y="192024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Unauthorized microloans opened using stolen CNIC photos from dark web leaks.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89120" y="310896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WalletGuard uses Behavioral Fingerprinting to detect these specific signatures even when the attacker has the correct PIN/OTP.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017520"/>
            <a:ext cx="3657600" cy="1280160"/>
          </a:xfrm>
          <a:prstGeom prst="rect">
            <a:avLst/>
          </a:prstGeom>
          <a:solidFill>
            <a:srgbClr val="1A1A2E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01752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🎭</a:t>
            </a:r>
            <a:endParaRPr lang="en-US" sz="6000" dirty="0"/>
          </a:p>
        </p:txBody>
      </p:sp>
      <p:sp>
        <p:nvSpPr>
          <p:cNvPr id="20" name="Shape 18"/>
          <p:cNvSpPr/>
          <p:nvPr/>
        </p:nvSpPr>
        <p:spPr>
          <a:xfrm>
            <a:off x="0" y="4983480"/>
            <a:ext cx="9144000" cy="1828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The 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25880" y="3200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CFF33"/>
                </a:solidFill>
              </a:rPr>
              <a:t>Solution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520440" y="32004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: WalletGuard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CFF33"/>
                </a:solidFill>
              </a:rPr>
              <a:t>The Intelligence Layer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WalletGuard is an Anomaly Detection engine that sits between the core banking system and the user interface.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194560"/>
            <a:ext cx="4572000" cy="1097280"/>
          </a:xfrm>
          <a:prstGeom prst="rect">
            <a:avLst/>
          </a:prstGeom>
          <a:solidFill>
            <a:srgbClr val="222222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2194560"/>
            <a:ext cx="64008" cy="1097280"/>
          </a:xfrm>
          <a:prstGeom prst="rect">
            <a:avLst/>
          </a:prstGeom>
          <a:solidFill>
            <a:srgbClr val="CCFF33"/>
          </a:solidFill>
          <a:ln w="12700">
            <a:solidFill>
              <a:srgbClr val="CCFF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2402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"It doesn't just ask 'What is the PIN?', it asks 'Is this person really who they say they are?' based on their unique usage rhythm."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By processing 6 distinct data dimensions, we generate a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Risk Score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 in less than 50 milliseconds per transaction.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303520" y="822960"/>
            <a:ext cx="3474720" cy="3474720"/>
          </a:xfrm>
          <a:prstGeom prst="rect">
            <a:avLst/>
          </a:prstGeom>
          <a:solidFill>
            <a:srgbClr val="050D1A"/>
          </a:solidFill>
          <a:ln w="12700">
            <a:solidFill>
              <a:srgbClr val="1A33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0" y="822960"/>
            <a:ext cx="34747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dirty="0">
                <a:solidFill>
                  <a:srgbClr val="000000"/>
                </a:solidFill>
              </a:rPr>
              <a:t>🧠</a:t>
            </a:r>
            <a:endParaRPr lang="en-US" sz="9000" dirty="0"/>
          </a:p>
        </p:txBody>
      </p:sp>
      <p:sp>
        <p:nvSpPr>
          <p:cNvPr id="13" name="Shape 11"/>
          <p:cNvSpPr/>
          <p:nvPr/>
        </p:nvSpPr>
        <p:spPr>
          <a:xfrm>
            <a:off x="0" y="4983480"/>
            <a:ext cx="9144000" cy="1828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Dataset &amp; </a:t>
            </a:r>
            <a:pPr indent="0" marL="0">
              <a:buNone/>
            </a:pPr>
            <a:r>
              <a:rPr lang="en-US" sz="3400" b="1" dirty="0">
                <a:solidFill>
                  <a:srgbClr val="CCFF33"/>
                </a:solidFill>
              </a:rPr>
              <a:t>Preprocessing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</a:rPr>
              <a:t>The AI is trained on a high-fidelity synthetic dataset specifically modeled for Pakistani user behavior patterns.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25880"/>
          <a:ext cx="8412480" cy="3200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4297680"/>
              </a:tblGrid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CFF33"/>
                          </a:solidFill>
                        </a:rPr>
                        <a:t>VARIABLE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CFF33"/>
                          </a:solidFill>
                        </a:rPr>
                        <a:t>LOGIC CONTRIBUTION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CFF33"/>
                          </a:solidFill>
                        </a:rPr>
                        <a:t>PATTERN DETECTED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Timestamp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</a:rPr>
                        <a:t>High Weight (25%)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</a:rPr>
                        <a:t>Late-night anomalies (12AM-5AM) often signal fraud.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Amount_PKR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</a:rPr>
                        <a:t>Significant Spike (20%)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</a:rPr>
                        <a:t>Sudden attempt to drain balance vs historical average.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Device_ID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</a:rPr>
                        <a:t>Security Anchor (20%)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</a:rPr>
                        <a:t>Unrecognized handset fingerprinting.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City_Location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</a:rPr>
                        <a:t>Geo-Fencing (15%)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</a:rPr>
                        <a:t>Impossible travel (Karachi to Peshawar in 5 mins).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Txn_Frequency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</a:rPr>
                        <a:t>Velocity Check (12%)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</a:rPr>
                        <a:t>Burst patterns of multiple small transfers.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4983480"/>
            <a:ext cx="9144000" cy="1828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Methodology: 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931920" y="2743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CFF33"/>
                </a:solidFill>
              </a:rPr>
              <a:t>Risk Score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Our proprietary Multi-Factor Risk Scoring Engine evaluates each transaction across 6 dimensions: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8412480" cy="822960"/>
          </a:xfrm>
          <a:prstGeom prst="rect">
            <a:avLst/>
          </a:prstGeom>
          <a:solidFill>
            <a:srgbClr val="222222"/>
          </a:solidFill>
          <a:ln w="19050">
            <a:solidFill>
              <a:srgbClr val="444444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365760" y="14630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CFF33"/>
                </a:solidFill>
              </a:rPr>
              <a:t>Risk Score = (T × 0.25) + (A × 0.20) + (D × 0.20) + (L × 0.15) + (F × 0.12) + (P × 0.08)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CFF33"/>
                </a:solidFill>
              </a:rPr>
              <a:t>Legend: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FF33"/>
                </a:solidFill>
              </a:rPr>
              <a:t>→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T: </a:t>
            </a:r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</a:rPr>
              <a:t>Timing (12AM-5AM)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21868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FF33"/>
                </a:solidFill>
              </a:rPr>
              <a:t>→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A: </a:t>
            </a:r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</a:rPr>
              <a:t>Amount Spike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60273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FF33"/>
                </a:solidFill>
              </a:rPr>
              <a:t>→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D: </a:t>
            </a:r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</a:rPr>
              <a:t>New Device ID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89120" y="28346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FF33"/>
                </a:solidFill>
              </a:rPr>
              <a:t>→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L: </a:t>
            </a:r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</a:rPr>
              <a:t>Location Mismatch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389120" y="321868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FF33"/>
                </a:solidFill>
              </a:rPr>
              <a:t>→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F: </a:t>
            </a:r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</a:rPr>
              <a:t>Txn Frequency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89120" y="360273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FF33"/>
                </a:solidFill>
              </a:rPr>
              <a:t>→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P: </a:t>
            </a:r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</a:rPr>
              <a:t>Profile Risk (Age/Gender)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0" y="2331720"/>
            <a:ext cx="3291840" cy="822960"/>
          </a:xfrm>
          <a:prstGeom prst="rect">
            <a:avLst/>
          </a:prstGeom>
          <a:solidFill>
            <a:srgbClr val="222222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0" y="23774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Threshold Logic: </a:t>
            </a:r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Scores &gt; 70 trigger the 30-second intervention countdown.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983480"/>
            <a:ext cx="9144000" cy="1828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Methodology: 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931920" y="27432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CFF33"/>
                </a:solidFill>
              </a:rPr>
              <a:t>Risk Weighting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5029200" cy="32004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43000"/>
            <a:ext cx="691515" cy="320040"/>
          </a:xfrm>
          <a:prstGeom prst="roundRect">
            <a:avLst>
              <a:gd name="adj" fmla="val 42857"/>
            </a:avLst>
          </a:prstGeom>
          <a:solidFill>
            <a:srgbClr val="CCFF33"/>
          </a:solidFill>
          <a:ln w="12700">
            <a:solidFill>
              <a:srgbClr val="CCFF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0" y="11430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25%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47218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Timestamp (Timing)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673352"/>
            <a:ext cx="5029200" cy="32004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73352"/>
            <a:ext cx="553212" cy="320040"/>
          </a:xfrm>
          <a:prstGeom prst="roundRect">
            <a:avLst>
              <a:gd name="adj" fmla="val 42857"/>
            </a:avLst>
          </a:prstGeom>
          <a:solidFill>
            <a:srgbClr val="CCFF33"/>
          </a:solidFill>
          <a:ln w="12700">
            <a:solidFill>
              <a:srgbClr val="CCFF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0" y="167335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20%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002536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Amount_PKR (Spike)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203704"/>
            <a:ext cx="5029200" cy="32004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203704"/>
            <a:ext cx="553212" cy="320040"/>
          </a:xfrm>
          <a:prstGeom prst="roundRect">
            <a:avLst>
              <a:gd name="adj" fmla="val 42857"/>
            </a:avLst>
          </a:prstGeom>
          <a:solidFill>
            <a:srgbClr val="CCFF33"/>
          </a:solidFill>
          <a:ln w="12700">
            <a:solidFill>
              <a:srgbClr val="CCFF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0" y="2203704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20%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2532888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Device_ID (Anchor)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734056"/>
            <a:ext cx="5029200" cy="32004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734056"/>
            <a:ext cx="457200" cy="320040"/>
          </a:xfrm>
          <a:prstGeom prst="roundRect">
            <a:avLst>
              <a:gd name="adj" fmla="val 42857"/>
            </a:avLst>
          </a:prstGeom>
          <a:solidFill>
            <a:srgbClr val="CCFF33"/>
          </a:solidFill>
          <a:ln w="12700">
            <a:solidFill>
              <a:srgbClr val="CCFF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0" y="2734056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15%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3063240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City_Location (Geo)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264408"/>
            <a:ext cx="5029200" cy="32004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264408"/>
            <a:ext cx="457200" cy="320040"/>
          </a:xfrm>
          <a:prstGeom prst="roundRect">
            <a:avLst>
              <a:gd name="adj" fmla="val 42857"/>
            </a:avLst>
          </a:prstGeom>
          <a:solidFill>
            <a:srgbClr val="CCFF33"/>
          </a:solidFill>
          <a:ln w="12700">
            <a:solidFill>
              <a:srgbClr val="CCFF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0" y="3264408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12%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3593592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Txn_Frequency (Velocity)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794760"/>
            <a:ext cx="5029200" cy="32004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794760"/>
            <a:ext cx="457200" cy="320040"/>
          </a:xfrm>
          <a:prstGeom prst="roundRect">
            <a:avLst>
              <a:gd name="adj" fmla="val 42857"/>
            </a:avLst>
          </a:prstGeom>
          <a:solidFill>
            <a:srgbClr val="CCFF33"/>
          </a:solidFill>
          <a:ln w="12700">
            <a:solidFill>
              <a:srgbClr val="CCFF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0" y="37947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8%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" y="412394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Profile Risk (Age/Gender)</a:t>
            </a:r>
            <a:endParaRPr lang="en-US" sz="90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6217920" y="1005840"/>
          <a:ext cx="25603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Shape 26"/>
          <p:cNvSpPr/>
          <p:nvPr/>
        </p:nvSpPr>
        <p:spPr>
          <a:xfrm>
            <a:off x="0" y="4983480"/>
            <a:ext cx="9144000" cy="1828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System 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377440" y="2743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CFF33"/>
                </a:solidFill>
              </a:rPr>
              <a:t>Architecture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97280" y="960120"/>
            <a:ext cx="502920" cy="502920"/>
          </a:xfrm>
          <a:prstGeom prst="ellipse">
            <a:avLst/>
          </a:prstGeom>
          <a:solidFill>
            <a:srgbClr val="0A0A0A"/>
          </a:solidFill>
          <a:ln w="25400">
            <a:solidFill>
              <a:srgbClr val="CCFF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960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CFF33"/>
                </a:solidFill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554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FF33"/>
                </a:solidFill>
              </a:rPr>
              <a:t>Detect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AI scans txn parameters in real-time.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86000" y="1188720"/>
            <a:ext cx="365760" cy="18288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960120"/>
            <a:ext cx="502920" cy="502920"/>
          </a:xfrm>
          <a:prstGeom prst="ellipse">
            <a:avLst/>
          </a:prstGeom>
          <a:solidFill>
            <a:srgbClr val="0A0A0A"/>
          </a:solidFill>
          <a:ln w="25400">
            <a:solidFill>
              <a:srgbClr val="CCFF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960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CFF33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60320" y="1554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FF33"/>
                </a:solidFill>
              </a:rPr>
              <a:t>Alert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60320" y="19202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Instant SMS/App Push if Score &gt; 70.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80560" y="1188720"/>
            <a:ext cx="365760" cy="18288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960120"/>
            <a:ext cx="502920" cy="502920"/>
          </a:xfrm>
          <a:prstGeom prst="ellipse">
            <a:avLst/>
          </a:prstGeom>
          <a:solidFill>
            <a:srgbClr val="0A0A0A"/>
          </a:solidFill>
          <a:ln w="25400">
            <a:solidFill>
              <a:srgbClr val="CCFF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0" y="960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CFF33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1554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FF33"/>
                </a:solidFill>
              </a:rPr>
              <a:t>Wait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54880" y="19202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30-second user confirmation window.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675120" y="1188720"/>
            <a:ext cx="365760" cy="18288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80960" y="960120"/>
            <a:ext cx="502920" cy="502920"/>
          </a:xfrm>
          <a:prstGeom prst="ellipse">
            <a:avLst/>
          </a:prstGeom>
          <a:solidFill>
            <a:srgbClr val="0A0A0A"/>
          </a:solidFill>
          <a:ln w="25400">
            <a:solidFill>
              <a:srgbClr val="CCFF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0960" y="960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CFF33"/>
                </a:solidFill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49440" y="1554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FF33"/>
                </a:solidFill>
              </a:rPr>
              <a:t>Act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49440" y="19202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No response = Automatic path block.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2651760"/>
            <a:ext cx="8412480" cy="2103120"/>
          </a:xfrm>
          <a:prstGeom prst="rect">
            <a:avLst/>
          </a:prstGeom>
          <a:solidFill>
            <a:srgbClr val="F0EDE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2743200"/>
            <a:ext cx="1371600" cy="365760"/>
          </a:xfrm>
          <a:prstGeom prst="roundRect">
            <a:avLst>
              <a:gd name="adj" fmla="val 25000"/>
            </a:avLst>
          </a:prstGeom>
          <a:solidFill>
            <a:srgbClr val="D4C4A0"/>
          </a:solidFill>
          <a:ln w="12700">
            <a:solidFill>
              <a:srgbClr val="AA997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2743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Client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8640" y="3200400"/>
            <a:ext cx="1371600" cy="365760"/>
          </a:xfrm>
          <a:prstGeom prst="roundRect">
            <a:avLst>
              <a:gd name="adj" fmla="val 25000"/>
            </a:avLst>
          </a:prstGeom>
          <a:solidFill>
            <a:srgbClr val="B8D4B8"/>
          </a:solidFill>
          <a:ln w="12700">
            <a:solidFill>
              <a:srgbClr val="88AA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2004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Application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8640" y="3657600"/>
            <a:ext cx="1371600" cy="365760"/>
          </a:xfrm>
          <a:prstGeom prst="roundRect">
            <a:avLst>
              <a:gd name="adj" fmla="val 25000"/>
            </a:avLst>
          </a:prstGeom>
          <a:solidFill>
            <a:srgbClr val="B8C8D4"/>
          </a:solidFill>
          <a:ln w="12700">
            <a:solidFill>
              <a:srgbClr val="88A0A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657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Domain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8640" y="4114800"/>
            <a:ext cx="1371600" cy="320040"/>
          </a:xfrm>
          <a:prstGeom prst="roundRect">
            <a:avLst>
              <a:gd name="adj" fmla="val 28571"/>
            </a:avLst>
          </a:prstGeom>
          <a:solidFill>
            <a:srgbClr val="D4D4D4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4114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Database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44805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</a:rPr>
              <a:t>Technical Partitioning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834640" y="2743200"/>
            <a:ext cx="914400" cy="365760"/>
          </a:xfrm>
          <a:prstGeom prst="roundRect">
            <a:avLst>
              <a:gd name="adj" fmla="val 25000"/>
            </a:avLst>
          </a:prstGeom>
          <a:solidFill>
            <a:srgbClr val="D4C4A0"/>
          </a:solidFill>
          <a:ln w="12700">
            <a:solidFill>
              <a:srgbClr val="AA997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834640" y="27432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Client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468880" y="3200400"/>
            <a:ext cx="731520" cy="1188720"/>
          </a:xfrm>
          <a:prstGeom prst="roundRect">
            <a:avLst>
              <a:gd name="adj" fmla="val 12500"/>
            </a:avLst>
          </a:prstGeom>
          <a:solidFill>
            <a:srgbClr val="B8D4B8"/>
          </a:solidFill>
          <a:ln w="12700">
            <a:solidFill>
              <a:srgbClr val="88AA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468880" y="33832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</a:rPr>
              <a:t>Svc A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926080" y="3200400"/>
            <a:ext cx="731520" cy="1188720"/>
          </a:xfrm>
          <a:prstGeom prst="roundRect">
            <a:avLst>
              <a:gd name="adj" fmla="val 12500"/>
            </a:avLst>
          </a:prstGeom>
          <a:solidFill>
            <a:srgbClr val="B8D4B8"/>
          </a:solidFill>
          <a:ln w="12700">
            <a:solidFill>
              <a:srgbClr val="88AA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926080" y="33832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</a:rPr>
              <a:t>Svc B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383280" y="3200400"/>
            <a:ext cx="731520" cy="1188720"/>
          </a:xfrm>
          <a:prstGeom prst="roundRect">
            <a:avLst>
              <a:gd name="adj" fmla="val 12500"/>
            </a:avLst>
          </a:prstGeom>
          <a:solidFill>
            <a:srgbClr val="B8D4B8"/>
          </a:solidFill>
          <a:ln w="12700">
            <a:solidFill>
              <a:srgbClr val="88AA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83280" y="33832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</a:rPr>
              <a:t>Svc C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2377440" y="44805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</a:rPr>
              <a:t>Domain Partitioning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212080" y="2743200"/>
            <a:ext cx="914400" cy="365760"/>
          </a:xfrm>
          <a:prstGeom prst="roundRect">
            <a:avLst>
              <a:gd name="adj" fmla="val 25000"/>
            </a:avLst>
          </a:prstGeom>
          <a:solidFill>
            <a:srgbClr val="D4C4A0"/>
          </a:solidFill>
          <a:ln w="12700">
            <a:solidFill>
              <a:srgbClr val="AA997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12080" y="27432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Client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120640" y="3200400"/>
            <a:ext cx="1371600" cy="1188720"/>
          </a:xfrm>
          <a:prstGeom prst="roundRect">
            <a:avLst>
              <a:gd name="adj" fmla="val 7692"/>
            </a:avLst>
          </a:prstGeom>
          <a:solidFill>
            <a:srgbClr val="B8D4B8"/>
          </a:solidFill>
          <a:ln w="12700">
            <a:solidFill>
              <a:srgbClr val="88AA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20640" y="3657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Instance 0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029200" y="44805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</a:rPr>
              <a:t>Instances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7040880" y="2788920"/>
            <a:ext cx="548640" cy="274320"/>
          </a:xfrm>
          <a:prstGeom prst="rect">
            <a:avLst/>
          </a:prstGeom>
          <a:solidFill>
            <a:srgbClr val="B8D4B8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635240" y="27889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Use cases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040880" y="3200400"/>
            <a:ext cx="548640" cy="274320"/>
          </a:xfrm>
          <a:prstGeom prst="rect">
            <a:avLst/>
          </a:prstGeom>
          <a:solidFill>
            <a:srgbClr val="B8C8D4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635240" y="32004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Domain logic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040880" y="3611880"/>
            <a:ext cx="548640" cy="274320"/>
          </a:xfrm>
          <a:prstGeom prst="rect">
            <a:avLst/>
          </a:prstGeom>
          <a:solidFill>
            <a:srgbClr val="D4D4D4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635240" y="36118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Generic code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040880" y="4023360"/>
            <a:ext cx="548640" cy="274320"/>
          </a:xfrm>
          <a:prstGeom prst="rect">
            <a:avLst/>
          </a:prstGeom>
          <a:solidFill>
            <a:srgbClr val="E8E8E8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35240" y="4023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Data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0" y="4983480"/>
            <a:ext cx="9144000" cy="1828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The 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234440" y="27432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CFF33"/>
                </a:solidFill>
              </a:rPr>
              <a:t>30-Second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886200" y="2743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 Window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114800" cy="2926080"/>
          </a:xfrm>
          <a:prstGeom prst="rect">
            <a:avLst/>
          </a:prstGeom>
          <a:solidFill>
            <a:srgbClr val="0A0A0A"/>
          </a:solidFill>
          <a:ln w="25400">
            <a:solidFill>
              <a:srgbClr val="CCFF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4444"/>
                </a:solidFill>
              </a:rPr>
              <a:t>00:30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365760" y="26060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Countdown to Auto-Block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06324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FF33"/>
                </a:solidFill>
              </a:rPr>
              <a:t>The critical moment where the user can save their savings with one tap.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CFF33"/>
                </a:solidFill>
              </a:rPr>
              <a:t>Proactive Protection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46320" y="141732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Traditional systems wait for the user to discover the loss. WalletGuard alerts the user before the money leaves their account.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224028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FF33"/>
                </a:solidFill>
              </a:rPr>
              <a:t>→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Confirm Safe: </a:t>
            </a:r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</a:rPr>
              <a:t>User authorizes the unusual txn.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28346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FF33"/>
                </a:solidFill>
              </a:rPr>
              <a:t>→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Block Now: </a:t>
            </a:r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</a:rPr>
              <a:t>User freezes account instantly.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34290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FF33"/>
                </a:solidFill>
              </a:rPr>
              <a:t>→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Auto-Block: </a:t>
            </a:r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</a:rPr>
              <a:t>System freezes account if user doesn't respond, assuming account takeover.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0" y="4983480"/>
            <a:ext cx="9144000" cy="1828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The 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234440" y="2743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CFF33"/>
                </a:solidFill>
              </a:rPr>
              <a:t>Streamlit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0" y="27432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 Dashboard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CFF33"/>
                </a:solidFill>
              </a:rPr>
              <a:t>Attractive &amp; User-Friendly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Our GUI is designed for bank risk managers and end-users alike.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FF33"/>
                </a:solidFill>
              </a:rPr>
              <a:t>→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Visual Analysis: </a:t>
            </a:r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</a:rPr>
              <a:t>Plotly Radar Charts show why a txn was flagged.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FF33"/>
                </a:solidFill>
              </a:rPr>
              <a:t>→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Heatmaps: </a:t>
            </a:r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</a:rPr>
              <a:t>Display fraud hotspots across Pakistani cities (Karachi, Lahore, Faisalabad).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3375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FF33"/>
                </a:solidFill>
              </a:rPr>
              <a:t>→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Real-time Feed: </a:t>
            </a:r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</a:rPr>
              <a:t>Live transaction monitoring for ops teams.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120640" y="822960"/>
            <a:ext cx="3657600" cy="3200400"/>
          </a:xfrm>
          <a:prstGeom prst="rect">
            <a:avLst/>
          </a:prstGeom>
          <a:solidFill>
            <a:srgbClr val="1A1A1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57800" y="960120"/>
            <a:ext cx="3383280" cy="2560320"/>
          </a:xfrm>
          <a:prstGeom prst="rect">
            <a:avLst/>
          </a:prstGeom>
          <a:solidFill>
            <a:srgbClr val="0A1628"/>
          </a:solidFill>
          <a:ln w="12700">
            <a:solidFill>
              <a:srgbClr val="3355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0" y="10058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CFF33"/>
                </a:solidFill>
              </a:rPr>
              <a:t>📊 WalletGuard Dashboard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303520" y="1417320"/>
            <a:ext cx="1463040" cy="548640"/>
          </a:xfrm>
          <a:prstGeom prst="rect">
            <a:avLst/>
          </a:prstGeom>
          <a:solidFill>
            <a:srgbClr val="1A3A1A"/>
          </a:solidFill>
          <a:ln w="12700">
            <a:solidFill>
              <a:srgbClr val="3366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0" y="14630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FF33"/>
                </a:solidFill>
              </a:rPr>
              <a:t>Fraud: 6.2%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303520" y="2011680"/>
            <a:ext cx="1463040" cy="640080"/>
          </a:xfrm>
          <a:prstGeom prst="rect">
            <a:avLst/>
          </a:prstGeom>
          <a:solidFill>
            <a:srgbClr val="1A1A3A"/>
          </a:solidFill>
          <a:ln w="12700">
            <a:solidFill>
              <a:srgbClr val="3366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0" y="20574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99FF"/>
                </a:solidFill>
              </a:rPr>
              <a:t>Risk Score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499FF"/>
                </a:solidFill>
              </a:rPr>
              <a:t>↑ 94% Acc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58000" y="1417320"/>
            <a:ext cx="1737360" cy="1234440"/>
          </a:xfrm>
          <a:prstGeom prst="rect">
            <a:avLst/>
          </a:prstGeom>
          <a:solidFill>
            <a:srgbClr val="1A2A1A"/>
          </a:solidFill>
          <a:ln w="12700">
            <a:solidFill>
              <a:srgbClr val="3355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0" y="1463040"/>
            <a:ext cx="1737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🗺️ Fraud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Heatmap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Karachi|Lahore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0" y="4983480"/>
            <a:ext cx="9144000" cy="1828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Business 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743200" y="27432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CFF33"/>
                </a:solidFill>
              </a:rPr>
              <a:t>Impact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480560" y="2743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 &amp; Metrics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114800" cy="246888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CCFF33"/>
                </a:solidFill>
              </a:rPr>
              <a:t>94%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365760" y="25603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Detection Accuracy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4632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CFF33"/>
                </a:solidFill>
              </a:rPr>
              <a:t>Projected Outcomes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46320" y="15087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FF33"/>
                </a:solidFill>
              </a:rPr>
              <a:t>→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Rs. 2.3T </a:t>
            </a:r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</a:rPr>
              <a:t>Annual fraud value potentially prevented.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0" y="20116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FF33"/>
                </a:solidFill>
              </a:rPr>
              <a:t>→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38M+ </a:t>
            </a:r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</a:rPr>
              <a:t>Users protected across combined networks.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25146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FF33"/>
                </a:solidFill>
              </a:rPr>
              <a:t>→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30s </a:t>
            </a:r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</a:rPr>
              <a:t>Average response time before loss occurrence.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30175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FF33"/>
                </a:solidFill>
              </a:rPr>
              <a:t>→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Full Audit Trail: </a:t>
            </a:r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</a:rPr>
              <a:t>100% compliance with FIA evidence standards.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4983480"/>
            <a:ext cx="9144000" cy="1828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Managerial 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657600" y="27432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CFF33"/>
                </a:solidFill>
              </a:rPr>
              <a:t>Recommendations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697480" cy="237744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4300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👥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78308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FF33"/>
                </a:solidFill>
              </a:rPr>
              <a:t>Strategic Shift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19456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Move from reactive customer service to a proactive Security-First product culture.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051560"/>
            <a:ext cx="2697480" cy="237744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14300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🤝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291840" y="178308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FF33"/>
                </a:solidFill>
              </a:rPr>
              <a:t>FIA Integration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29000" y="219456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Establish direct API tunnels for real-time reporting of high-risk fraud attempts to law enforcement.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051560"/>
            <a:ext cx="2697480" cy="237744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14300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🛡️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217920" y="178308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FF33"/>
                </a:solidFill>
              </a:rPr>
              <a:t>Consumer Trust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55080" y="219456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Use "Safety Transparency" as a marketing differentiator to gain market share in the unbanked sector.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983480"/>
            <a:ext cx="9144000" cy="1828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</a:rPr>
              <a:t>Thank </a:t>
            </a:r>
            <a:pPr algn="ctr" indent="0" marL="0">
              <a:buNone/>
            </a:pPr>
            <a:r>
              <a:rPr lang="en-US" sz="7200" b="1" dirty="0">
                <a:solidFill>
                  <a:srgbClr val="CCFF33"/>
                </a:solidFill>
              </a:rPr>
              <a:t>You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1371600" y="201168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</a:rPr>
              <a:t>"Every second without detection is a second a Pakistani family loses their savings."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371600" y="28346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CFF33"/>
                </a:solidFill>
              </a:rPr>
              <a:t>WALLETGUARD | PROJECT QUESTIONS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71600" y="33832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</a:rPr>
              <a:t>Presented for: AI in Business Final Project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71600" y="37490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</a:rPr>
              <a:t>Focus: Fraud Analytics for Branchless Banking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828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WalletGuard AI Fraud Detection</dc:title>
  <dc:subject>PptxGenJS Presentation</dc:subject>
  <dc:creator>PptxGenJS</dc:creator>
  <cp:lastModifiedBy>PptxGenJS</cp:lastModifiedBy>
  <cp:revision>1</cp:revision>
  <dcterms:created xsi:type="dcterms:W3CDTF">2026-05-06T19:13:43Z</dcterms:created>
  <dcterms:modified xsi:type="dcterms:W3CDTF">2026-05-06T19:13:43Z</dcterms:modified>
</cp:coreProperties>
</file>